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Source Code Pro"/>
      <p:regular r:id="rId13"/>
      <p:bold r:id="rId14"/>
      <p:italic r:id="rId15"/>
      <p:boldItalic r:id="rId16"/>
    </p:embeddedFont>
    <p:embeddedFont>
      <p:font typeface="Oswald"/>
      <p:regular r:id="rId17"/>
      <p:bold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SourceCodePro-regular.fntdata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SourceCodePro-italic.fntdata"/><Relationship Id="rId14" Type="http://schemas.openxmlformats.org/officeDocument/2006/relationships/font" Target="fonts/SourceCodePro-bold.fntdata"/><Relationship Id="rId17" Type="http://schemas.openxmlformats.org/officeDocument/2006/relationships/font" Target="fonts/Oswald-regular.fntdata"/><Relationship Id="rId16" Type="http://schemas.openxmlformats.org/officeDocument/2006/relationships/font" Target="fonts/SourceCodePr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Oswald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c6f80d1ff_0_2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c6f80d1ff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c6f80d1ff_0_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c6f80d1f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6a86489195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6a86489195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c6f80d1ff_0_5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c6f80d1ff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6a86489195_0_8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6a86489195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6a86489195_0_8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6a86489195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c6f80d1ff_0_1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c6f80d1ff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10800000">
            <a:off x="4226100" y="2933550"/>
            <a:ext cx="691800" cy="3885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-25" y="0"/>
            <a:ext cx="9144000" cy="3124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411175" y="644300"/>
            <a:ext cx="8282400" cy="2109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411175" y="3398250"/>
            <a:ext cx="8282400" cy="126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1567350"/>
            <a:ext cx="9144000" cy="2008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430800" y="1889700"/>
            <a:ext cx="8282400" cy="151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Google Shape;20;p4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" name="Google Shape;25;p5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468825"/>
            <a:ext cx="39999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468825"/>
            <a:ext cx="39999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" name="Google Shape;34;p7"/>
          <p:cNvCxnSpPr/>
          <p:nvPr/>
        </p:nvCxnSpPr>
        <p:spPr>
          <a:xfrm>
            <a:off x="418675" y="145778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35" name="Google Shape;35;p7"/>
          <p:cNvSpPr txBox="1"/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6" name="Google Shape;36;p7"/>
          <p:cNvSpPr txBox="1"/>
          <p:nvPr>
            <p:ph idx="1" type="body"/>
          </p:nvPr>
        </p:nvSpPr>
        <p:spPr>
          <a:xfrm>
            <a:off x="311700" y="1618204"/>
            <a:ext cx="2808000" cy="295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7" name="Google Shape;37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"/>
          <p:cNvSpPr txBox="1"/>
          <p:nvPr>
            <p:ph type="title"/>
          </p:nvPr>
        </p:nvSpPr>
        <p:spPr>
          <a:xfrm>
            <a:off x="490250" y="528900"/>
            <a:ext cx="5678100" cy="408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1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175"/>
            <a:ext cx="4572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577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1078750"/>
            <a:ext cx="4045200" cy="178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65500" y="29214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Oswald"/>
              <a:buNone/>
              <a:defRPr sz="2100"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2" name="Google Shape;52;p11"/>
          <p:cNvCxnSpPr/>
          <p:nvPr/>
        </p:nvCxnSpPr>
        <p:spPr>
          <a:xfrm>
            <a:off x="413275" y="2988275"/>
            <a:ext cx="9105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53" name="Google Shape;53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dern-writer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jpg"/><Relationship Id="rId4" Type="http://schemas.openxmlformats.org/officeDocument/2006/relationships/hyperlink" Target="https://www.linkedin.com/in/gerrik-boldemann/" TargetMode="External"/><Relationship Id="rId5" Type="http://schemas.openxmlformats.org/officeDocument/2006/relationships/hyperlink" Target="https://github.com/iamgerrik/Data-Analytics-Portfolio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type="title"/>
          </p:nvPr>
        </p:nvSpPr>
        <p:spPr>
          <a:xfrm>
            <a:off x="311700" y="631800"/>
            <a:ext cx="33561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3000"/>
              <a:t>Enhanced Pizza Delivery</a:t>
            </a:r>
            <a:endParaRPr sz="3000"/>
          </a:p>
        </p:txBody>
      </p:sp>
      <p:sp>
        <p:nvSpPr>
          <p:cNvPr id="63" name="Google Shape;63;p13"/>
          <p:cNvSpPr txBox="1"/>
          <p:nvPr>
            <p:ph idx="1" type="body"/>
          </p:nvPr>
        </p:nvSpPr>
        <p:spPr>
          <a:xfrm>
            <a:off x="311700" y="1618204"/>
            <a:ext cx="2808000" cy="295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Ana</a:t>
            </a:r>
            <a:r>
              <a:rPr lang="de"/>
              <a:t>l</a:t>
            </a:r>
            <a:r>
              <a:rPr lang="de"/>
              <a:t>ytical Dashboard Design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descr="pizza sitting on cardboard box (von Getty Images)" id="64" name="Google Shape;64;p13"/>
          <p:cNvPicPr preferRelativeResize="0"/>
          <p:nvPr/>
        </p:nvPicPr>
        <p:blipFill rotWithShape="1">
          <a:blip r:embed="rId3">
            <a:alphaModFix/>
          </a:blip>
          <a:srcRect b="0" l="0" r="12709" t="0"/>
          <a:stretch/>
        </p:blipFill>
        <p:spPr>
          <a:xfrm>
            <a:off x="3667800" y="0"/>
            <a:ext cx="5476198" cy="5143502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3"/>
          <p:cNvSpPr txBox="1"/>
          <p:nvPr>
            <p:ph type="title"/>
          </p:nvPr>
        </p:nvSpPr>
        <p:spPr>
          <a:xfrm>
            <a:off x="311700" y="3432675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1900"/>
              <a:t>Kontakt</a:t>
            </a:r>
            <a:endParaRPr sz="1900"/>
          </a:p>
        </p:txBody>
      </p:sp>
      <p:sp>
        <p:nvSpPr>
          <p:cNvPr id="66" name="Google Shape;66;p13"/>
          <p:cNvSpPr txBox="1"/>
          <p:nvPr>
            <p:ph idx="1" type="body"/>
          </p:nvPr>
        </p:nvSpPr>
        <p:spPr>
          <a:xfrm>
            <a:off x="311700" y="4114279"/>
            <a:ext cx="2808000" cy="295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900"/>
              <a:t>Gerrik Boldemann	</a:t>
            </a:r>
            <a:endParaRPr b="1"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900" u="sng">
                <a:solidFill>
                  <a:schemeClr val="hlink"/>
                </a:solidFill>
                <a:hlinkClick r:id="rId4"/>
              </a:rPr>
              <a:t>LinkedIn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900" u="sng">
                <a:solidFill>
                  <a:schemeClr val="hlink"/>
                </a:solidFill>
                <a:hlinkClick r:id="rId5"/>
              </a:rPr>
              <a:t>Github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 txBox="1"/>
          <p:nvPr>
            <p:ph type="title"/>
          </p:nvPr>
        </p:nvSpPr>
        <p:spPr>
          <a:xfrm>
            <a:off x="311700" y="372500"/>
            <a:ext cx="42603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Projektziel </a:t>
            </a:r>
            <a:endParaRPr/>
          </a:p>
        </p:txBody>
      </p:sp>
      <p:sp>
        <p:nvSpPr>
          <p:cNvPr id="72" name="Google Shape;72;p14"/>
          <p:cNvSpPr txBox="1"/>
          <p:nvPr>
            <p:ph idx="1" type="body"/>
          </p:nvPr>
        </p:nvSpPr>
        <p:spPr>
          <a:xfrm>
            <a:off x="4875300" y="1574225"/>
            <a:ext cx="39570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325">
                <a:solidFill>
                  <a:srgbClr val="34495E"/>
                </a:solidFill>
              </a:rPr>
              <a:t>Ich verfolgten einen iterativen Ansatz, beginnend mit der Analyse der Daten und der </a:t>
            </a:r>
            <a:r>
              <a:rPr b="1" lang="de" sz="1325">
                <a:solidFill>
                  <a:srgbClr val="34495E"/>
                </a:solidFill>
              </a:rPr>
              <a:t>Identifizierung wichtiger KPIs</a:t>
            </a:r>
            <a:r>
              <a:rPr lang="de" sz="1325">
                <a:solidFill>
                  <a:srgbClr val="34495E"/>
                </a:solidFill>
              </a:rPr>
              <a:t>. </a:t>
            </a:r>
            <a:endParaRPr sz="1325">
              <a:solidFill>
                <a:srgbClr val="34495E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5">
              <a:solidFill>
                <a:srgbClr val="34495E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495E"/>
              </a:buClr>
              <a:buSzPts val="1125"/>
              <a:buFont typeface="Arial"/>
              <a:buNone/>
            </a:pPr>
            <a:r>
              <a:rPr lang="de" sz="1325">
                <a:solidFill>
                  <a:srgbClr val="34495E"/>
                </a:solidFill>
              </a:rPr>
              <a:t>Anschließend entwickelte ich ein </a:t>
            </a:r>
            <a:r>
              <a:rPr b="1" lang="de" sz="1325">
                <a:solidFill>
                  <a:srgbClr val="34495E"/>
                </a:solidFill>
              </a:rPr>
              <a:t>Dashboard-Konzept, das auf die Bedürfnisse verschiedener Stakeholder</a:t>
            </a:r>
            <a:r>
              <a:rPr lang="de" sz="1325">
                <a:solidFill>
                  <a:srgbClr val="34495E"/>
                </a:solidFill>
              </a:rPr>
              <a:t> zugeschnitten ist und gängige </a:t>
            </a:r>
            <a:r>
              <a:rPr b="1" lang="de" sz="1325">
                <a:solidFill>
                  <a:srgbClr val="34495E"/>
                </a:solidFill>
              </a:rPr>
              <a:t>BI-Standards</a:t>
            </a:r>
            <a:r>
              <a:rPr lang="de" sz="1325">
                <a:solidFill>
                  <a:srgbClr val="34495E"/>
                </a:solidFill>
              </a:rPr>
              <a:t> berücksichtigt, um </a:t>
            </a:r>
            <a:r>
              <a:rPr b="1" lang="de" sz="1325">
                <a:solidFill>
                  <a:srgbClr val="34495E"/>
                </a:solidFill>
              </a:rPr>
              <a:t>Robustheit</a:t>
            </a:r>
            <a:r>
              <a:rPr lang="de" sz="1325">
                <a:solidFill>
                  <a:srgbClr val="34495E"/>
                </a:solidFill>
              </a:rPr>
              <a:t> und </a:t>
            </a:r>
            <a:r>
              <a:rPr b="1" lang="de" sz="1325">
                <a:solidFill>
                  <a:srgbClr val="34495E"/>
                </a:solidFill>
              </a:rPr>
              <a:t>Skalierbarkeit</a:t>
            </a:r>
            <a:r>
              <a:rPr lang="de" sz="1325">
                <a:solidFill>
                  <a:srgbClr val="34495E"/>
                </a:solidFill>
              </a:rPr>
              <a:t> zu gewährleisten.</a:t>
            </a:r>
            <a:endParaRPr sz="1325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25">
              <a:solidFill>
                <a:srgbClr val="34495E"/>
              </a:solidFill>
            </a:endParaRPr>
          </a:p>
        </p:txBody>
      </p:sp>
      <p:sp>
        <p:nvSpPr>
          <p:cNvPr id="73" name="Google Shape;73;p14"/>
          <p:cNvSpPr txBox="1"/>
          <p:nvPr>
            <p:ph idx="1" type="body"/>
          </p:nvPr>
        </p:nvSpPr>
        <p:spPr>
          <a:xfrm>
            <a:off x="311700" y="1621225"/>
            <a:ext cx="39570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325">
                <a:solidFill>
                  <a:srgbClr val="34495E"/>
                </a:solidFill>
              </a:rPr>
              <a:t>Ein umfassendes Dashboard zu entwickeln, das </a:t>
            </a:r>
            <a:r>
              <a:rPr b="1" lang="de" sz="1325">
                <a:solidFill>
                  <a:srgbClr val="34495E"/>
                </a:solidFill>
              </a:rPr>
              <a:t>allen relevanten Stakeholdern im Pizza-Liefergeschäft maßgeschneiderte Einblicke bietet</a:t>
            </a:r>
            <a:r>
              <a:rPr lang="de" sz="1325">
                <a:solidFill>
                  <a:srgbClr val="34495E"/>
                </a:solidFill>
              </a:rPr>
              <a:t>. Von Management bis Marketing – jeder soll die Daten erhalten, die er für fundierte Entscheidungen benötigt.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4"/>
          <p:cNvSpPr txBox="1"/>
          <p:nvPr>
            <p:ph type="title"/>
          </p:nvPr>
        </p:nvSpPr>
        <p:spPr>
          <a:xfrm>
            <a:off x="4878300" y="372500"/>
            <a:ext cx="42603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Vorgehensweise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Datengrundlage</a:t>
            </a:r>
            <a:endParaRPr/>
          </a:p>
        </p:txBody>
      </p:sp>
      <p:sp>
        <p:nvSpPr>
          <p:cNvPr id="80" name="Google Shape;80;p15"/>
          <p:cNvSpPr txBox="1"/>
          <p:nvPr/>
        </p:nvSpPr>
        <p:spPr>
          <a:xfrm>
            <a:off x="311700" y="1633650"/>
            <a:ext cx="4260300" cy="317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13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Name: </a:t>
            </a:r>
            <a:endParaRPr sz="13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13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Enhanced Pizza Sales Dataset</a:t>
            </a:r>
            <a:endParaRPr b="1" sz="13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13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Quelle: </a:t>
            </a:r>
            <a:r>
              <a:rPr b="1" lang="de" sz="13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www.kaggle.com/…/pizza-sales-dataset</a:t>
            </a:r>
            <a:endParaRPr b="1" sz="13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13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Sample:</a:t>
            </a:r>
            <a:endParaRPr sz="13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13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InformationLAB (DataSchool)</a:t>
            </a:r>
            <a:endParaRPr b="1" sz="13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13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Größe: </a:t>
            </a:r>
            <a:endParaRPr sz="13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13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+1.000 Daten mit erweiternten Merkmalen</a:t>
            </a:r>
            <a:endParaRPr b="1" sz="13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pic>
        <p:nvPicPr>
          <p:cNvPr id="81" name="Google Shape;81;p15" title="digital-device-mockup-set.png"/>
          <p:cNvPicPr preferRelativeResize="0"/>
          <p:nvPr/>
        </p:nvPicPr>
        <p:blipFill rotWithShape="1">
          <a:blip r:embed="rId3">
            <a:alphaModFix/>
          </a:blip>
          <a:srcRect b="24492" l="7040" r="29820" t="24148"/>
          <a:stretch/>
        </p:blipFill>
        <p:spPr>
          <a:xfrm>
            <a:off x="4407100" y="825250"/>
            <a:ext cx="5691575" cy="3520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5" title="Bildschirmfoto vom 2025-06-23 21-19-00.png"/>
          <p:cNvPicPr preferRelativeResize="0"/>
          <p:nvPr/>
        </p:nvPicPr>
        <p:blipFill rotWithShape="1">
          <a:blip r:embed="rId4">
            <a:alphaModFix/>
          </a:blip>
          <a:srcRect b="-1870" l="1164" r="21171" t="1870"/>
          <a:stretch/>
        </p:blipFill>
        <p:spPr>
          <a:xfrm>
            <a:off x="4736822" y="1175134"/>
            <a:ext cx="5086147" cy="30091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/>
          <p:cNvSpPr/>
          <p:nvPr/>
        </p:nvSpPr>
        <p:spPr>
          <a:xfrm>
            <a:off x="4850250" y="2318800"/>
            <a:ext cx="4090800" cy="4638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pic>
        <p:nvPicPr>
          <p:cNvPr id="88" name="Google Shape;88;p16" title="Dashboard 1.png"/>
          <p:cNvPicPr preferRelativeResize="0"/>
          <p:nvPr/>
        </p:nvPicPr>
        <p:blipFill rotWithShape="1">
          <a:blip r:embed="rId3">
            <a:alphaModFix/>
          </a:blip>
          <a:srcRect b="59587" l="0" r="0" t="0"/>
          <a:stretch/>
        </p:blipFill>
        <p:spPr>
          <a:xfrm>
            <a:off x="433450" y="156975"/>
            <a:ext cx="4090925" cy="4843648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6"/>
          <p:cNvSpPr txBox="1"/>
          <p:nvPr/>
        </p:nvSpPr>
        <p:spPr>
          <a:xfrm>
            <a:off x="4820050" y="642950"/>
            <a:ext cx="4121100" cy="43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de" sz="13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Der </a:t>
            </a:r>
            <a:r>
              <a:rPr b="1" lang="de" sz="13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Gesamtumsatz</a:t>
            </a:r>
            <a:r>
              <a:rPr lang="de" sz="13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aller Lieferdienste, in dem Zeitraum </a:t>
            </a:r>
            <a:r>
              <a:rPr b="1" lang="de" sz="13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2023-2025</a:t>
            </a:r>
            <a:r>
              <a:rPr lang="de" sz="13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lag bei </a:t>
            </a:r>
            <a:r>
              <a:rPr b="1" lang="de" sz="13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über</a:t>
            </a:r>
            <a:r>
              <a:rPr lang="de" sz="13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</a:t>
            </a:r>
            <a:r>
              <a:rPr b="1" lang="de" sz="13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$10.000</a:t>
            </a:r>
            <a:r>
              <a:rPr lang="de" sz="13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.</a:t>
            </a:r>
            <a:endParaRPr sz="13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13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26%</a:t>
            </a:r>
            <a:r>
              <a:rPr lang="de" sz="13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aller Lieferungen hatten eine </a:t>
            </a:r>
            <a:r>
              <a:rPr b="1" lang="de" sz="13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verspätete Zustellung</a:t>
            </a:r>
            <a:r>
              <a:rPr lang="de" sz="13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, welches die Kundenzufriedenheit beeinflussen kann. </a:t>
            </a:r>
            <a:endParaRPr sz="13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de" sz="13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Von den fünf Restaurants hat </a:t>
            </a:r>
            <a:r>
              <a:rPr b="1" lang="de" sz="13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“Papa John’s” die effizienteste Zustellung</a:t>
            </a:r>
            <a:r>
              <a:rPr lang="de" sz="13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.</a:t>
            </a:r>
            <a:endParaRPr sz="13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de" sz="13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Der </a:t>
            </a:r>
            <a:r>
              <a:rPr b="1" lang="de" sz="13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Großteil des Umsatzes</a:t>
            </a:r>
            <a:r>
              <a:rPr lang="de" sz="13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wird </a:t>
            </a:r>
            <a:r>
              <a:rPr b="1" lang="de" sz="13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unter der Woche generiert</a:t>
            </a:r>
            <a:r>
              <a:rPr lang="de" sz="13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. Der Trend zeigt einen deutlichen Zuwachs über’s Jahr an.</a:t>
            </a:r>
            <a:endParaRPr sz="13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de" sz="13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Der am </a:t>
            </a:r>
            <a:r>
              <a:rPr b="1" lang="de" sz="13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besten performende Standort</a:t>
            </a:r>
            <a:r>
              <a:rPr lang="de" sz="13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ist  </a:t>
            </a:r>
            <a:r>
              <a:rPr b="1" lang="de" sz="13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“Pizza Hut”</a:t>
            </a:r>
            <a:r>
              <a:rPr lang="de" sz="13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in </a:t>
            </a:r>
            <a:r>
              <a:rPr b="1" lang="de" sz="13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Los Angeles</a:t>
            </a:r>
            <a:r>
              <a:rPr lang="de" sz="13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mit einem überdurchschnittlichen </a:t>
            </a:r>
            <a:r>
              <a:rPr b="1" lang="de" sz="13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Umsatz von $455</a:t>
            </a:r>
            <a:r>
              <a:rPr lang="de" sz="13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. </a:t>
            </a:r>
            <a:endParaRPr sz="13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13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</a:t>
            </a:r>
            <a:endParaRPr sz="13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90" name="Google Shape;90;p16"/>
          <p:cNvSpPr/>
          <p:nvPr/>
        </p:nvSpPr>
        <p:spPr>
          <a:xfrm>
            <a:off x="4850250" y="716725"/>
            <a:ext cx="4090800" cy="6852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91" name="Google Shape;91;p16"/>
          <p:cNvSpPr/>
          <p:nvPr/>
        </p:nvSpPr>
        <p:spPr>
          <a:xfrm>
            <a:off x="4850250" y="1480450"/>
            <a:ext cx="4090800" cy="6852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92" name="Google Shape;92;p16"/>
          <p:cNvSpPr/>
          <p:nvPr/>
        </p:nvSpPr>
        <p:spPr>
          <a:xfrm>
            <a:off x="4835200" y="2881400"/>
            <a:ext cx="4090800" cy="8709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93" name="Google Shape;93;p16"/>
          <p:cNvSpPr/>
          <p:nvPr/>
        </p:nvSpPr>
        <p:spPr>
          <a:xfrm>
            <a:off x="4835200" y="3851100"/>
            <a:ext cx="4090800" cy="7338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cxnSp>
        <p:nvCxnSpPr>
          <p:cNvPr id="94" name="Google Shape;94;p16"/>
          <p:cNvCxnSpPr>
            <a:stCxn id="90" idx="1"/>
          </p:cNvCxnSpPr>
          <p:nvPr/>
        </p:nvCxnSpPr>
        <p:spPr>
          <a:xfrm flipH="1">
            <a:off x="1275450" y="1059325"/>
            <a:ext cx="3574800" cy="20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5" name="Google Shape;95;p16"/>
          <p:cNvCxnSpPr/>
          <p:nvPr/>
        </p:nvCxnSpPr>
        <p:spPr>
          <a:xfrm rot="10800000">
            <a:off x="4205550" y="1370150"/>
            <a:ext cx="644700" cy="48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6" name="Google Shape;96;p16"/>
          <p:cNvCxnSpPr/>
          <p:nvPr/>
        </p:nvCxnSpPr>
        <p:spPr>
          <a:xfrm rot="10800000">
            <a:off x="4458450" y="2371650"/>
            <a:ext cx="391800" cy="200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7" name="Google Shape;97;p16"/>
          <p:cNvCxnSpPr/>
          <p:nvPr/>
        </p:nvCxnSpPr>
        <p:spPr>
          <a:xfrm rot="10800000">
            <a:off x="2044750" y="2434650"/>
            <a:ext cx="2775300" cy="936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8" name="Google Shape;98;p16"/>
          <p:cNvCxnSpPr/>
          <p:nvPr/>
        </p:nvCxnSpPr>
        <p:spPr>
          <a:xfrm flipH="1">
            <a:off x="1897150" y="4219600"/>
            <a:ext cx="2922900" cy="460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7"/>
          <p:cNvSpPr/>
          <p:nvPr/>
        </p:nvSpPr>
        <p:spPr>
          <a:xfrm>
            <a:off x="4835200" y="3071975"/>
            <a:ext cx="4090800" cy="10809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pic>
        <p:nvPicPr>
          <p:cNvPr id="104" name="Google Shape;104;p17" title="Dashboard 1.png"/>
          <p:cNvPicPr preferRelativeResize="0"/>
          <p:nvPr/>
        </p:nvPicPr>
        <p:blipFill rotWithShape="1">
          <a:blip r:embed="rId3">
            <a:alphaModFix/>
          </a:blip>
          <a:srcRect b="36233" l="0" r="0" t="40287"/>
          <a:stretch/>
        </p:blipFill>
        <p:spPr>
          <a:xfrm>
            <a:off x="433450" y="1109975"/>
            <a:ext cx="4090925" cy="2814177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7"/>
          <p:cNvSpPr txBox="1"/>
          <p:nvPr/>
        </p:nvSpPr>
        <p:spPr>
          <a:xfrm>
            <a:off x="4820050" y="642950"/>
            <a:ext cx="4121100" cy="41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de" sz="13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Häufige Verspätungen führen zu Kundenabwanderung und dementsprechend zu Umsatzeinbußen. </a:t>
            </a:r>
            <a:endParaRPr sz="13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13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Rushhour:</a:t>
            </a:r>
            <a:r>
              <a:rPr lang="de" sz="13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</a:t>
            </a:r>
            <a:endParaRPr sz="13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Source Code Pro"/>
              <a:buChar char="-"/>
            </a:pPr>
            <a:r>
              <a:rPr b="1" lang="de" sz="13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Montag bis Samstag zwischen 19-20 Uhr</a:t>
            </a:r>
            <a:r>
              <a:rPr lang="de" sz="13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</a:t>
            </a:r>
            <a:r>
              <a:rPr b="1" lang="de" sz="13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verspäten</a:t>
            </a:r>
            <a:r>
              <a:rPr lang="de" sz="13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zwischen </a:t>
            </a:r>
            <a:r>
              <a:rPr b="1" lang="de" sz="13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40%-50%</a:t>
            </a:r>
            <a:r>
              <a:rPr lang="de" sz="13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aller Lieferungen</a:t>
            </a:r>
            <a:endParaRPr sz="13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Source Code Pro"/>
              <a:buChar char="-"/>
            </a:pPr>
            <a:r>
              <a:rPr lang="de" sz="13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Am </a:t>
            </a:r>
            <a:r>
              <a:rPr b="1" lang="de" sz="13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Mittwoch um 17 Uhr</a:t>
            </a:r>
            <a:r>
              <a:rPr lang="de" sz="13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und </a:t>
            </a:r>
            <a:r>
              <a:rPr b="1" lang="de" sz="13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Samstag 21 Uhr</a:t>
            </a:r>
            <a:r>
              <a:rPr lang="de" sz="13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wird eine </a:t>
            </a:r>
            <a:r>
              <a:rPr b="1" lang="de" sz="13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100% Verpätungsrate</a:t>
            </a:r>
            <a:r>
              <a:rPr lang="de" sz="13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verzeichnet </a:t>
            </a:r>
            <a:endParaRPr sz="13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de" sz="13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Die </a:t>
            </a:r>
            <a:r>
              <a:rPr b="1" lang="de" sz="13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Lieferungs Effizienz</a:t>
            </a:r>
            <a:r>
              <a:rPr b="1" lang="de" sz="13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nach Kilometer</a:t>
            </a:r>
            <a:r>
              <a:rPr lang="de" sz="13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ist </a:t>
            </a:r>
            <a:r>
              <a:rPr b="1" lang="de" sz="13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Linear </a:t>
            </a:r>
            <a:r>
              <a:rPr lang="de" sz="13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(kein Tempo-Verlust durch den Fahrer). Auffällig ist, das der </a:t>
            </a:r>
            <a:r>
              <a:rPr b="1" lang="de" sz="13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größte Teil des Umsatzes mit High-Traffic gekennzeichnet </a:t>
            </a:r>
            <a:r>
              <a:rPr lang="de" sz="13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ist. </a:t>
            </a:r>
            <a:endParaRPr sz="13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13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</a:t>
            </a:r>
            <a:endParaRPr sz="13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106" name="Google Shape;106;p17"/>
          <p:cNvSpPr/>
          <p:nvPr/>
        </p:nvSpPr>
        <p:spPr>
          <a:xfrm>
            <a:off x="4850250" y="716725"/>
            <a:ext cx="4090800" cy="22344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cxnSp>
        <p:nvCxnSpPr>
          <p:cNvPr id="107" name="Google Shape;107;p17"/>
          <p:cNvCxnSpPr/>
          <p:nvPr/>
        </p:nvCxnSpPr>
        <p:spPr>
          <a:xfrm flipH="1">
            <a:off x="2276775" y="1844500"/>
            <a:ext cx="2571600" cy="853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8" name="Google Shape;108;p17"/>
          <p:cNvCxnSpPr/>
          <p:nvPr/>
        </p:nvCxnSpPr>
        <p:spPr>
          <a:xfrm rot="10800000">
            <a:off x="4321500" y="2719275"/>
            <a:ext cx="505800" cy="93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8"/>
          <p:cNvSpPr/>
          <p:nvPr/>
        </p:nvSpPr>
        <p:spPr>
          <a:xfrm>
            <a:off x="4850250" y="695625"/>
            <a:ext cx="4090800" cy="11496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114" name="Google Shape;114;p18"/>
          <p:cNvSpPr txBox="1"/>
          <p:nvPr/>
        </p:nvSpPr>
        <p:spPr>
          <a:xfrm>
            <a:off x="4820050" y="632400"/>
            <a:ext cx="4121100" cy="29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13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Domino's</a:t>
            </a:r>
            <a:r>
              <a:rPr lang="de" sz="13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erzielt über die Jahre einen </a:t>
            </a:r>
            <a:r>
              <a:rPr b="1" lang="de" sz="13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Umsatz von $2.311</a:t>
            </a:r>
            <a:r>
              <a:rPr lang="de" sz="13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- dicht gefolgt von Pizza Hut mit $2.295.</a:t>
            </a:r>
            <a:r>
              <a:rPr lang="de" sz="13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</a:t>
            </a:r>
            <a:r>
              <a:rPr b="1" lang="de" sz="13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71%</a:t>
            </a:r>
            <a:r>
              <a:rPr lang="de" sz="13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in der</a:t>
            </a:r>
            <a:r>
              <a:rPr lang="de" sz="13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</a:t>
            </a:r>
            <a:r>
              <a:rPr b="1" lang="de" sz="13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Größe “Large”</a:t>
            </a:r>
            <a:r>
              <a:rPr lang="de" sz="13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. </a:t>
            </a:r>
            <a:r>
              <a:rPr b="1" lang="de" sz="13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Best-Choice-Pizza</a:t>
            </a:r>
            <a:r>
              <a:rPr lang="de" sz="13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ist die </a:t>
            </a:r>
            <a:r>
              <a:rPr b="1" lang="de" sz="13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Vegetarische Pizza mit vier Belägen</a:t>
            </a:r>
            <a:r>
              <a:rPr lang="de" sz="13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.</a:t>
            </a:r>
            <a:endParaRPr sz="13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de" sz="13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Kunden nutzen Vorzugsweise die </a:t>
            </a:r>
            <a:r>
              <a:rPr b="1" lang="de" sz="13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Online-Bezahlung</a:t>
            </a:r>
            <a:r>
              <a:rPr lang="de" sz="13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per </a:t>
            </a:r>
            <a:r>
              <a:rPr b="1" lang="de" sz="13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Kreditkarte</a:t>
            </a:r>
            <a:r>
              <a:rPr lang="de" sz="13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oder </a:t>
            </a:r>
            <a:r>
              <a:rPr b="1" lang="de" sz="13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UPI</a:t>
            </a:r>
            <a:r>
              <a:rPr lang="de" sz="13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(Unified Payments Interface -wie “AliPay”)</a:t>
            </a:r>
            <a:endParaRPr sz="13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de" sz="13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Die Tage mit der </a:t>
            </a:r>
            <a:r>
              <a:rPr b="1" lang="de" sz="13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höchste Nachfrage</a:t>
            </a:r>
            <a:r>
              <a:rPr lang="de" sz="13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sind </a:t>
            </a:r>
            <a:r>
              <a:rPr b="1" lang="de" sz="13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Montag, Donnerstag und Samstag</a:t>
            </a:r>
            <a:r>
              <a:rPr lang="de" sz="13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. </a:t>
            </a:r>
            <a:endParaRPr sz="13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13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</a:t>
            </a:r>
            <a:endParaRPr sz="13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pic>
        <p:nvPicPr>
          <p:cNvPr id="115" name="Google Shape;115;p18" title="Dashboard 1.png"/>
          <p:cNvPicPr preferRelativeResize="0"/>
          <p:nvPr/>
        </p:nvPicPr>
        <p:blipFill rotWithShape="1">
          <a:blip r:embed="rId3">
            <a:alphaModFix/>
          </a:blip>
          <a:srcRect b="0" l="0" r="0" t="63021"/>
          <a:stretch/>
        </p:blipFill>
        <p:spPr>
          <a:xfrm>
            <a:off x="433450" y="335550"/>
            <a:ext cx="4090925" cy="4432123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8"/>
          <p:cNvSpPr/>
          <p:nvPr/>
        </p:nvSpPr>
        <p:spPr>
          <a:xfrm>
            <a:off x="4835200" y="1904525"/>
            <a:ext cx="4090800" cy="8277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117" name="Google Shape;117;p18"/>
          <p:cNvSpPr/>
          <p:nvPr/>
        </p:nvSpPr>
        <p:spPr>
          <a:xfrm>
            <a:off x="4835200" y="2896925"/>
            <a:ext cx="4090800" cy="5166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cxnSp>
        <p:nvCxnSpPr>
          <p:cNvPr id="118" name="Google Shape;118;p18"/>
          <p:cNvCxnSpPr/>
          <p:nvPr/>
        </p:nvCxnSpPr>
        <p:spPr>
          <a:xfrm flipH="1">
            <a:off x="2930250" y="1391300"/>
            <a:ext cx="1920000" cy="674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9" name="Google Shape;119;p18"/>
          <p:cNvCxnSpPr>
            <a:stCxn id="116" idx="1"/>
          </p:cNvCxnSpPr>
          <p:nvPr/>
        </p:nvCxnSpPr>
        <p:spPr>
          <a:xfrm flipH="1">
            <a:off x="3502000" y="2318375"/>
            <a:ext cx="1333200" cy="70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0" name="Google Shape;120;p18"/>
          <p:cNvCxnSpPr>
            <a:stCxn id="117" idx="1"/>
          </p:cNvCxnSpPr>
          <p:nvPr/>
        </p:nvCxnSpPr>
        <p:spPr>
          <a:xfrm flipH="1">
            <a:off x="2023900" y="3155225"/>
            <a:ext cx="2811300" cy="249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19" title="digital-device-mockup-set.png"/>
          <p:cNvPicPr preferRelativeResize="0"/>
          <p:nvPr/>
        </p:nvPicPr>
        <p:blipFill rotWithShape="1">
          <a:blip r:embed="rId3">
            <a:alphaModFix/>
          </a:blip>
          <a:srcRect b="24912" l="6869" r="30504" t="25609"/>
          <a:stretch/>
        </p:blipFill>
        <p:spPr>
          <a:xfrm>
            <a:off x="1123650" y="216500"/>
            <a:ext cx="6494475" cy="4205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9" title="Dashboard 1.png"/>
          <p:cNvPicPr preferRelativeResize="0"/>
          <p:nvPr/>
        </p:nvPicPr>
        <p:blipFill rotWithShape="1">
          <a:blip r:embed="rId4">
            <a:alphaModFix/>
          </a:blip>
          <a:srcRect b="9437" l="0" r="0" t="63713"/>
          <a:stretch/>
        </p:blipFill>
        <p:spPr>
          <a:xfrm>
            <a:off x="1528300" y="572100"/>
            <a:ext cx="5907200" cy="36227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chwarzes Smartphone im Hochformat" id="127" name="Google Shape;127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62001" y="1395000"/>
            <a:ext cx="1675825" cy="32912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9" title="Bildschirmfoto vom 2025-06-23 17-10-54.png"/>
          <p:cNvPicPr preferRelativeResize="0"/>
          <p:nvPr/>
        </p:nvPicPr>
        <p:blipFill rotWithShape="1">
          <a:blip r:embed="rId6">
            <a:alphaModFix/>
          </a:blip>
          <a:srcRect b="21658" l="0" r="0" t="-703"/>
          <a:stretch/>
        </p:blipFill>
        <p:spPr>
          <a:xfrm>
            <a:off x="6842575" y="1668420"/>
            <a:ext cx="1514675" cy="2692756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9"/>
          <p:cNvSpPr txBox="1"/>
          <p:nvPr/>
        </p:nvSpPr>
        <p:spPr>
          <a:xfrm>
            <a:off x="3618175" y="4579175"/>
            <a:ext cx="1985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Vielen Dank!</a:t>
            </a:r>
            <a:endParaRPr sz="18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odern Writer">
  <a:themeElements>
    <a:clrScheme name="Modern Writer">
      <a:dk1>
        <a:srgbClr val="E91D63"/>
      </a:dk1>
      <a:lt1>
        <a:srgbClr val="FFFFFF"/>
      </a:lt1>
      <a:dk2>
        <a:srgbClr val="424242"/>
      </a:dk2>
      <a:lt2>
        <a:srgbClr val="999999"/>
      </a:lt2>
      <a:accent1>
        <a:srgbClr val="607D8B"/>
      </a:accent1>
      <a:accent2>
        <a:srgbClr val="673AB7"/>
      </a:accent2>
      <a:accent3>
        <a:srgbClr val="9C26B0"/>
      </a:accent3>
      <a:accent4>
        <a:srgbClr val="0090AC"/>
      </a:accent4>
      <a:accent5>
        <a:srgbClr val="00838F"/>
      </a:accent5>
      <a:accent6>
        <a:srgbClr val="F8E71C"/>
      </a:accent6>
      <a:hlink>
        <a:srgbClr val="00838F"/>
      </a:hlink>
      <a:folHlink>
        <a:srgbClr val="00838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